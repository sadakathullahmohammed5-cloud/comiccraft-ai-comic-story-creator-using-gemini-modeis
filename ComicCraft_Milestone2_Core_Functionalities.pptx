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664BB4"/>
                </a:solidFill>
              </a:defRPr>
            </a:pPr>
            <a:r>
              <a:t>ComicCraft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C2341"/>
                </a:solidFill>
              </a:defRPr>
            </a:pPr>
            <a:r>
              <a:t>AI Comic Story Creator using Gemini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32D"/>
                </a:solidFill>
              </a:defRPr>
            </a:pPr>
            <a:r>
              <a:t>Milestone 2: Core Functionalities Development</a:t>
            </a:r>
          </a:p>
          <a:p>
            <a:pPr algn="ctr">
              <a:defRPr sz="1600">
                <a:solidFill>
                  <a:srgbClr val="23232D"/>
                </a:solidFill>
              </a:defRPr>
            </a:pPr>
            <a:r>
              <a:t>Activity 2.1: Develop the Core Functionalities</a:t>
            </a:r>
          </a:p>
          <a:p>
            <a:pPr algn="ctr">
              <a:defRPr sz="1600">
                <a:solidFill>
                  <a:srgbClr val="23232D"/>
                </a:solidFill>
              </a:defRPr>
            </a:pPr>
            <a:r>
              <a:t>Implementation focus: Python + Gemini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41"/>
                </a:solidFill>
              </a:defRPr>
            </a:pPr>
            <a:r>
              <a:t>1. Core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E"/>
                </a:solidFill>
              </a:defRPr>
            </a:pPr>
            <a:r>
              <a:t>Main features implemented during Activity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D"/>
                </a:solidFill>
              </a:defRPr>
            </a:pPr>
            <a:r>
              <a:t>Prompt-based comic story generation</a:t>
            </a:r>
          </a:p>
          <a:p>
            <a:pPr>
              <a:spcAft>
                <a:spcPts val="1000"/>
              </a:spcAft>
              <a:defRPr sz="1800">
                <a:solidFill>
                  <a:srgbClr val="23232D"/>
                </a:solidFill>
              </a:defRPr>
            </a:pPr>
            <a:r>
              <a:t>Character and scene description generation</a:t>
            </a:r>
          </a:p>
          <a:p>
            <a:pPr>
              <a:spcAft>
                <a:spcPts val="1000"/>
              </a:spcAft>
              <a:defRPr sz="1800">
                <a:solidFill>
                  <a:srgbClr val="23232D"/>
                </a:solidFill>
              </a:defRPr>
            </a:pPr>
            <a:r>
              <a:t>Panel-by-panel comic structure</a:t>
            </a:r>
          </a:p>
          <a:p>
            <a:pPr>
              <a:spcAft>
                <a:spcPts val="1000"/>
              </a:spcAft>
              <a:defRPr sz="1800">
                <a:solidFill>
                  <a:srgbClr val="23232D"/>
                </a:solidFill>
              </a:defRPr>
            </a:pPr>
            <a:r>
              <a:t>Dialogue generation for characters</a:t>
            </a:r>
          </a:p>
          <a:p>
            <a:pPr>
              <a:spcAft>
                <a:spcPts val="1000"/>
              </a:spcAft>
              <a:defRPr sz="1800">
                <a:solidFill>
                  <a:srgbClr val="23232D"/>
                </a:solidFill>
              </a:defRPr>
            </a:pPr>
            <a:r>
              <a:t>Simple Python interface for user input and output</a:t>
            </a:r>
          </a:p>
          <a:p>
            <a:pPr>
              <a:spcAft>
                <a:spcPts val="1000"/>
              </a:spcAft>
              <a:defRPr sz="1800">
                <a:solidFill>
                  <a:srgbClr val="23232D"/>
                </a:solidFill>
              </a:defRPr>
            </a:pPr>
            <a:r>
              <a:t>Gemini model integration through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08760"/>
            <a:ext cx="2148840" cy="1554480"/>
          </a:xfrm>
          <a:prstGeom prst="roundRect">
            <a:avLst/>
          </a:prstGeom>
          <a:solidFill>
            <a:srgbClr val="F5F3FA"/>
          </a:solidFill>
          <a:ln>
            <a:solidFill>
              <a:srgbClr val="664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673351"/>
            <a:ext cx="18745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4BB4"/>
                </a:solidFill>
              </a:defRPr>
            </a:pPr>
            <a:r>
              <a:t>Story</a:t>
            </a:r>
          </a:p>
          <a:p>
            <a:pPr>
              <a:defRPr sz="1200">
                <a:solidFill>
                  <a:srgbClr val="23232D"/>
                </a:solidFill>
              </a:defRPr>
            </a:pPr>
            <a:r>
              <a:t>Generate a complete comic plot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508760"/>
            <a:ext cx="2148840" cy="1554480"/>
          </a:xfrm>
          <a:prstGeom prst="roundRect">
            <a:avLst/>
          </a:prstGeom>
          <a:solidFill>
            <a:srgbClr val="F5F3FA"/>
          </a:solidFill>
          <a:ln>
            <a:solidFill>
              <a:srgbClr val="664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673351"/>
            <a:ext cx="18745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4BB4"/>
                </a:solidFill>
              </a:defRPr>
            </a:pPr>
            <a:r>
              <a:t>Characters</a:t>
            </a:r>
          </a:p>
          <a:p>
            <a:pPr>
              <a:defRPr sz="1200">
                <a:solidFill>
                  <a:srgbClr val="23232D"/>
                </a:solidFill>
              </a:defRPr>
            </a:pPr>
            <a:r>
              <a:t>Create character 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474720"/>
            <a:ext cx="2148840" cy="1554480"/>
          </a:xfrm>
          <a:prstGeom prst="roundRect">
            <a:avLst/>
          </a:prstGeom>
          <a:solidFill>
            <a:srgbClr val="F5F3FA"/>
          </a:solidFill>
          <a:ln>
            <a:solidFill>
              <a:srgbClr val="664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639312"/>
            <a:ext cx="18745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4BB4"/>
                </a:solidFill>
              </a:defRPr>
            </a:pPr>
            <a:r>
              <a:t>Panels</a:t>
            </a:r>
          </a:p>
          <a:p>
            <a:pPr>
              <a:defRPr sz="1200">
                <a:solidFill>
                  <a:srgbClr val="23232D"/>
                </a:solidFill>
              </a:defRPr>
            </a:pPr>
            <a:r>
              <a:t>Break story into comic panels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3474720"/>
            <a:ext cx="2148840" cy="1554480"/>
          </a:xfrm>
          <a:prstGeom prst="roundRect">
            <a:avLst/>
          </a:prstGeom>
          <a:solidFill>
            <a:srgbClr val="F5F3FA"/>
          </a:solidFill>
          <a:ln>
            <a:solidFill>
              <a:srgbClr val="664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3639312"/>
            <a:ext cx="18745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4BB4"/>
                </a:solidFill>
              </a:defRPr>
            </a:pPr>
            <a:r>
              <a:t>Dialogue</a:t>
            </a:r>
          </a:p>
          <a:p>
            <a:pPr>
              <a:defRPr sz="1200">
                <a:solidFill>
                  <a:srgbClr val="23232D"/>
                </a:solidFill>
              </a:defRPr>
            </a:pPr>
            <a:r>
              <a:t>Generate natural conversations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41"/>
                </a:solidFill>
              </a:defRPr>
            </a:pPr>
            <a:r>
              <a:t>2. Gemini API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E"/>
                </a:solidFill>
              </a:defRPr>
            </a:pPr>
            <a:r>
              <a:t>Python code used to connect ComicCraft with a Gemini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6400800" cy="4526280"/>
          </a:xfrm>
          <a:prstGeom prst="roundRect">
            <a:avLst/>
          </a:prstGeom>
          <a:solidFill>
            <a:srgbClr val="1F222D"/>
          </a:solidFill>
          <a:ln>
            <a:solidFill>
              <a:srgbClr val="3C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6080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from google import genai</a:t>
            </a:r>
            <a:br/>
            <a:br/>
            <a:r>
              <a:t>client = genai.Client(api_key="YOUR_API_KEY")</a:t>
            </a:r>
            <a:br/>
            <a:br/>
            <a:r>
              <a:t>def generate_comic(prompt):</a:t>
            </a:r>
            <a:br/>
            <a:r>
              <a:t>    response = client.models.generate_content(</a:t>
            </a:r>
            <a:br/>
            <a:r>
              <a:t>        model="gemini-2.5-flash",</a:t>
            </a:r>
            <a:br/>
            <a:r>
              <a:t>        contents=prompt</a:t>
            </a:r>
            <a:br/>
            <a:r>
              <a:t>    )</a:t>
            </a:r>
            <a:br/>
            <a:r>
              <a:t>    return response.text</a:t>
            </a:r>
            <a:br/>
            <a:br/>
            <a:r>
              <a:t>prompt = """</a:t>
            </a:r>
            <a:br/>
            <a:r>
              <a:t>Create a 6-panel comic story.</a:t>
            </a:r>
            <a:br/>
            <a:r>
              <a:t>Include title, characters,</a:t>
            </a:r>
            <a:br/>
            <a:r>
              <a:t>scene descriptions and dialogue.</a:t>
            </a:r>
            <a:br/>
            <a:r>
              <a:t>"""</a:t>
            </a:r>
            <a:br/>
            <a:br/>
            <a:r>
              <a:t>story = generate_comic(prompt)</a:t>
            </a:r>
            <a:br/>
            <a:r>
              <a:t>print(story)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554480"/>
            <a:ext cx="4023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D"/>
                </a:solidFill>
              </a:defRPr>
            </a:pPr>
            <a:r>
              <a:t>Accepts a natural-language comic prompt</a:t>
            </a:r>
          </a:p>
          <a:p>
            <a:pPr>
              <a:spcAft>
                <a:spcPts val="1000"/>
              </a:spcAft>
              <a:defRPr sz="1700">
                <a:solidFill>
                  <a:srgbClr val="23232D"/>
                </a:solidFill>
              </a:defRPr>
            </a:pPr>
            <a:r>
              <a:t>Sends the prompt to the Gemini model</a:t>
            </a:r>
          </a:p>
          <a:p>
            <a:pPr>
              <a:spcAft>
                <a:spcPts val="1000"/>
              </a:spcAft>
              <a:defRPr sz="1700">
                <a:solidFill>
                  <a:srgbClr val="23232D"/>
                </a:solidFill>
              </a:defRPr>
            </a:pPr>
            <a:r>
              <a:t>Receives structured story content</a:t>
            </a:r>
          </a:p>
          <a:p>
            <a:pPr>
              <a:spcAft>
                <a:spcPts val="1000"/>
              </a:spcAft>
              <a:defRPr sz="1700">
                <a:solidFill>
                  <a:srgbClr val="23232D"/>
                </a:solidFill>
              </a:defRPr>
            </a:pPr>
            <a:r>
              <a:t>Displays generated output for the next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41"/>
                </a:solidFill>
              </a:defRPr>
            </a:pPr>
            <a:r>
              <a:t>3. Comic Story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E"/>
                </a:solidFill>
              </a:defRPr>
            </a:pPr>
            <a:r>
              <a:t>Converting Gemini output into usable comic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852160" cy="4389120"/>
          </a:xfrm>
          <a:prstGeom prst="roundRect">
            <a:avLst/>
          </a:prstGeom>
          <a:solidFill>
            <a:srgbClr val="1F222D"/>
          </a:solidFill>
          <a:ln>
            <a:solidFill>
              <a:srgbClr val="3C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5532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def build_comic_prompt(topic, panels=6):</a:t>
            </a:r>
            <a:br/>
            <a:r>
              <a:t>    return f"""</a:t>
            </a:r>
            <a:br/>
            <a:r>
              <a:t>    Topic: {topic}</a:t>
            </a:r>
            <a:br/>
            <a:r>
              <a:t>    Create {panels} comic panels.</a:t>
            </a:r>
            <a:br/>
            <a:r>
              <a:t>    For each panel provide:</a:t>
            </a:r>
            <a:br/>
            <a:r>
              <a:t>    - scene</a:t>
            </a:r>
            <a:br/>
            <a:r>
              <a:t>    - characters</a:t>
            </a:r>
            <a:br/>
            <a:r>
              <a:t>    - dialogue</a:t>
            </a:r>
            <a:br/>
            <a:r>
              <a:t>    - narration</a:t>
            </a:r>
            <a:br/>
            <a:r>
              <a:t>    """</a:t>
            </a:r>
            <a:br/>
            <a:br/>
            <a:r>
              <a:t>def create_comic(topic):</a:t>
            </a:r>
            <a:br/>
            <a:r>
              <a:t>    prompt = build_comic_prompt(topic)</a:t>
            </a:r>
            <a:br/>
            <a:r>
              <a:t>    return generate_comic(prompt)</a:t>
            </a:r>
          </a:p>
        </p:txBody>
      </p:sp>
      <p:sp>
        <p:nvSpPr>
          <p:cNvPr id="7" name="Oval 6"/>
          <p:cNvSpPr/>
          <p:nvPr/>
        </p:nvSpPr>
        <p:spPr>
          <a:xfrm>
            <a:off x="7040880" y="1371600"/>
            <a:ext cx="566928" cy="566928"/>
          </a:xfrm>
          <a:prstGeom prst="ellipse">
            <a:avLst/>
          </a:prstGeom>
          <a:solidFill>
            <a:srgbClr val="66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68896" y="1481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353312"/>
            <a:ext cx="3383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2341"/>
                </a:solidFill>
              </a:defRPr>
            </a:pPr>
            <a:r>
              <a:t>User Input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Topic / idea</a:t>
            </a:r>
          </a:p>
        </p:txBody>
      </p:sp>
      <p:sp>
        <p:nvSpPr>
          <p:cNvPr id="10" name="Oval 9"/>
          <p:cNvSpPr/>
          <p:nvPr/>
        </p:nvSpPr>
        <p:spPr>
          <a:xfrm>
            <a:off x="7040880" y="2514600"/>
            <a:ext cx="566928" cy="566928"/>
          </a:xfrm>
          <a:prstGeom prst="ellipse">
            <a:avLst/>
          </a:prstGeom>
          <a:solidFill>
            <a:srgbClr val="66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624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496312"/>
            <a:ext cx="3383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2341"/>
                </a:solidFill>
              </a:defRPr>
            </a:pPr>
            <a:r>
              <a:t>Prompt Builder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Adds comic format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0" y="3657600"/>
            <a:ext cx="566928" cy="566928"/>
          </a:xfrm>
          <a:prstGeom prst="ellipse">
            <a:avLst/>
          </a:prstGeom>
          <a:solidFill>
            <a:srgbClr val="66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68896" y="3767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39312"/>
            <a:ext cx="3383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2341"/>
                </a:solidFill>
              </a:defRPr>
            </a:pPr>
            <a:r>
              <a:t>Gemini Model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Generates content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4800600"/>
            <a:ext cx="566928" cy="566928"/>
          </a:xfrm>
          <a:prstGeom prst="ellipse">
            <a:avLst/>
          </a:prstGeom>
          <a:solidFill>
            <a:srgbClr val="66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4910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782312"/>
            <a:ext cx="3383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2341"/>
                </a:solidFill>
              </a:defRPr>
            </a:pPr>
            <a:r>
              <a:t>Output Parser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Organizes panels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41"/>
                </a:solidFill>
              </a:defRPr>
            </a:pPr>
            <a:r>
              <a:t>4. Activity 2.1 – Development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E"/>
                </a:solidFill>
              </a:defRPr>
            </a:pPr>
            <a:r>
              <a:t>Core functionality status and next development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3840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341"/>
                </a:solidFill>
              </a:defRPr>
            </a:pPr>
            <a:r>
              <a:t>Prompt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325880"/>
            <a:ext cx="2011680" cy="502920"/>
          </a:xfrm>
          <a:prstGeom prst="roundRect">
            <a:avLst/>
          </a:prstGeom>
          <a:solidFill>
            <a:srgbClr val="E7F7EE"/>
          </a:solidFill>
          <a:ln>
            <a:solidFill>
              <a:srgbClr val="30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417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0915F"/>
                </a:solidFill>
              </a:defRPr>
            </a:pPr>
            <a:r>
              <a:t>Implemented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75688"/>
            <a:ext cx="3840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6712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341"/>
                </a:solidFill>
              </a:defRPr>
            </a:pPr>
            <a:r>
              <a:t>Gemini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075688"/>
            <a:ext cx="2011680" cy="502920"/>
          </a:xfrm>
          <a:prstGeom prst="roundRect">
            <a:avLst/>
          </a:prstGeom>
          <a:solidFill>
            <a:srgbClr val="E7F7EE"/>
          </a:solidFill>
          <a:ln>
            <a:solidFill>
              <a:srgbClr val="30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16712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0915F"/>
                </a:solidFill>
              </a:defRPr>
            </a:pPr>
            <a:r>
              <a:t>Implemented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25496"/>
            <a:ext cx="3840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16936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341"/>
                </a:solidFill>
              </a:defRPr>
            </a:pPr>
            <a:r>
              <a:t>Story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825496"/>
            <a:ext cx="2011680" cy="502920"/>
          </a:xfrm>
          <a:prstGeom prst="roundRect">
            <a:avLst/>
          </a:prstGeom>
          <a:solidFill>
            <a:srgbClr val="E7F7EE"/>
          </a:solidFill>
          <a:ln>
            <a:solidFill>
              <a:srgbClr val="30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91693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0915F"/>
                </a:solidFill>
              </a:defRPr>
            </a:pPr>
            <a:r>
              <a:t>Implemented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575304"/>
            <a:ext cx="3840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6674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341"/>
                </a:solidFill>
              </a:defRPr>
            </a:pPr>
            <a:r>
              <a:t>Panel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575304"/>
            <a:ext cx="2011680" cy="502920"/>
          </a:xfrm>
          <a:prstGeom prst="roundRect">
            <a:avLst/>
          </a:prstGeom>
          <a:solidFill>
            <a:srgbClr val="E7F7EE"/>
          </a:solidFill>
          <a:ln>
            <a:solidFill>
              <a:srgbClr val="30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366674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0915F"/>
                </a:solidFill>
              </a:defRPr>
            </a:pPr>
            <a:r>
              <a:t>Implemented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325112"/>
            <a:ext cx="3840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16551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341"/>
                </a:solidFill>
              </a:defRPr>
            </a:pPr>
            <a:r>
              <a:t>Dialogue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4325112"/>
            <a:ext cx="2011680" cy="502920"/>
          </a:xfrm>
          <a:prstGeom prst="roundRect">
            <a:avLst/>
          </a:prstGeom>
          <a:solidFill>
            <a:srgbClr val="E7F7EE"/>
          </a:solidFill>
          <a:ln>
            <a:solidFill>
              <a:srgbClr val="30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4416551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0915F"/>
                </a:solidFill>
              </a:defRPr>
            </a:pPr>
            <a:r>
              <a:t>Implemented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17320"/>
            <a:ext cx="3657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D"/>
                </a:solidFill>
              </a:defRPr>
            </a:pPr>
            <a:r>
              <a:t>Next: connect generated text to comic-panel rendering</a:t>
            </a:r>
          </a:p>
          <a:p>
            <a:pPr>
              <a:spcAft>
                <a:spcPts val="1000"/>
              </a:spcAft>
              <a:defRPr sz="1600">
                <a:solidFill>
                  <a:srgbClr val="23232D"/>
                </a:solidFill>
              </a:defRPr>
            </a:pPr>
            <a:r>
              <a:t>Add image generation / visual assets where required</a:t>
            </a:r>
          </a:p>
          <a:p>
            <a:pPr>
              <a:spcAft>
                <a:spcPts val="1000"/>
              </a:spcAft>
              <a:defRPr sz="1600">
                <a:solidFill>
                  <a:srgbClr val="23232D"/>
                </a:solidFill>
              </a:defRPr>
            </a:pPr>
            <a:r>
              <a:t>Improve output formatting and user interface</a:t>
            </a:r>
          </a:p>
          <a:p>
            <a:pPr>
              <a:spcAft>
                <a:spcPts val="1000"/>
              </a:spcAft>
              <a:defRPr sz="1600">
                <a:solidFill>
                  <a:srgbClr val="23232D"/>
                </a:solidFill>
              </a:defRPr>
            </a:pPr>
            <a:r>
              <a:t>Test prompts for consistency and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664BB4"/>
                </a:solidFill>
              </a:defRPr>
            </a:pPr>
            <a:r>
              <a:t>Milestone 2 establishes the working AI story-generation foundation for ComicCraft.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